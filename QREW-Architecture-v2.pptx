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QREW · DCN Quantum Computing Applications · Boeing Research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202124"/>
                </a:solidFill>
                <a:latin typeface="Helvetica Neue"/>
              </a:rPr>
              <a:t>QREW Device &amp; Targets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5F6368"/>
                </a:solidFill>
                <a:latin typeface="Helvetica Neue"/>
              </a:rPr>
              <a:t>SDK-Agnostic Lowering for Hybrid Quantum-Classical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73E8"/>
                </a:solidFill>
                <a:latin typeface="Helvetica Neue"/>
              </a:rPr>
              <a:t>Architecture refactor — the bottom slice of the QREW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11247120" cy="1371600"/>
          </a:xfrm>
          <a:prstGeom prst="roundRect">
            <a:avLst/>
          </a:prstGeom>
          <a:solidFill>
            <a:srgbClr val="F1F3F4"/>
          </a:solidFill>
          <a:ln w="9525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Helvetica Neue"/>
              </a:rPr>
              <a:t>Status (June 1,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02124"/>
                </a:solidFill>
                <a:latin typeface="Helvetica Neue"/>
              </a:rPr>
              <a:t>• MR !1 on gitlab.com</a:t>
            </a:r>
            <a:r>
              <a:rPr sz="1200" b="0">
                <a:solidFill>
                  <a:srgbClr val="202124"/>
                </a:solidFill>
                <a:latin typeface="Helvetica Neue"/>
              </a:rPr>
              <a:t> — feature/wire-device-registry → main, draft for review</a:t>
            </a:r>
            <a:r>
              <a:rPr sz="1000" b="0">
                <a:solidFill>
                  <a:srgbClr val="5F6368"/>
                </a:solidFill>
                <a:latin typeface="Menlo"/>
              </a:rPr>
              <a:t>  gitlab.com/rat.hero/workflow/-/merge_requests/1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202124"/>
                </a:solidFill>
                <a:latin typeface="Helvetica Neue"/>
              </a:rPr>
              <a:t>• Full test suite green</a:t>
            </a:r>
            <a:r>
              <a:rPr sz="1200" b="0">
                <a:solidFill>
                  <a:srgbClr val="202124"/>
                </a:solidFill>
                <a:latin typeface="Helvetica Neue"/>
              </a:rPr>
              <a:t> — 1177 passed, 26 skipped, 1 xfailed, 0 failed</a:t>
            </a:r>
            <a:r>
              <a:rPr sz="1000" b="0">
                <a:solidFill>
                  <a:srgbClr val="5F6368"/>
                </a:solidFill>
                <a:latin typeface="Menlo"/>
              </a:rPr>
              <a:t>  pytest --tb=line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202124"/>
                </a:solidFill>
                <a:latin typeface="Helvetica Neue"/>
              </a:rPr>
              <a:t>• Five scopes landed</a:t>
            </a:r>
            <a:r>
              <a:rPr sz="1200" b="0">
                <a:solidFill>
                  <a:srgbClr val="202124"/>
                </a:solidFill>
                <a:latin typeface="Helvetica Neue"/>
              </a:rPr>
              <a:t> — Targets API · Device Registry · Cost Calculators · SDK Adapters · Cross-Device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Sophie Block  ·  sophieblock@boeing.com  ·  June 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SCOPE ·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Helvetica Neue"/>
              </a:rPr>
              <a:t>Where this layer sits in QREW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94560" cy="594360"/>
          </a:xfrm>
          <a:prstGeom prst="roundRect">
            <a:avLst/>
          </a:prstGeom>
          <a:solidFill>
            <a:srgbClr val="E8EAED"/>
          </a:solidFill>
          <a:ln w="9525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194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02124"/>
                </a:solidFill>
                <a:latin typeface="Helvetica Neue"/>
              </a:rPr>
              <a:t>User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219456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F6368"/>
                </a:solidFill>
                <a:latin typeface="Menlo"/>
              </a:rPr>
              <a:t>Python · @pyfunc · process defs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54480.0" y="1965960"/>
            <a:ext cx="0.0" cy="13716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103120"/>
            <a:ext cx="2194560" cy="594360"/>
          </a:xfrm>
          <a:prstGeom prst="roundRect">
            <a:avLst/>
          </a:prstGeom>
          <a:solidFill>
            <a:srgbClr val="E8EAED"/>
          </a:solidFill>
          <a:ln w="9525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2194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02124"/>
                </a:solidFill>
                <a:latin typeface="Helvetica Neue"/>
              </a:rPr>
              <a:t>Frontend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219456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F6368"/>
                </a:solidFill>
                <a:latin typeface="Menlo"/>
              </a:rPr>
              <a:t>workflow/frontend/  · AST · dtypes · schema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54480.0" y="2697480"/>
            <a:ext cx="0.0" cy="13716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2834640"/>
            <a:ext cx="2194560" cy="594360"/>
          </a:xfrm>
          <a:prstGeom prst="roundRect">
            <a:avLst/>
          </a:prstGeom>
          <a:solidFill>
            <a:srgbClr val="E8EAED"/>
          </a:solidFill>
          <a:ln w="9525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2194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02124"/>
                </a:solidFill>
                <a:latin typeface="Helvetica Neue"/>
              </a:rPr>
              <a:t>Process DAG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46120"/>
            <a:ext cx="219456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F6368"/>
                </a:solidFill>
                <a:latin typeface="Menlo"/>
              </a:rPr>
              <a:t>workflow/builder.py  · CompositeMod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54480.0" y="3429000"/>
            <a:ext cx="0.0" cy="13716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" y="3566160"/>
            <a:ext cx="2194560" cy="594360"/>
          </a:xfrm>
          <a:prstGeom prst="roundRect">
            <a:avLst/>
          </a:prstGeom>
          <a:solidFill>
            <a:srgbClr val="E8EAED"/>
          </a:solidFill>
          <a:ln w="9525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2194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02124"/>
                </a:solidFill>
                <a:latin typeface="Helvetica Neue"/>
              </a:rPr>
              <a:t>Canonical 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77640"/>
            <a:ext cx="219456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F6368"/>
                </a:solidFill>
                <a:latin typeface="Menlo"/>
              </a:rPr>
              <a:t>doc/drafts/canonicalize.md  · typed graph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54480.0" y="4160520"/>
            <a:ext cx="0.0" cy="36576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108960" y="1371600"/>
            <a:ext cx="8595360" cy="4572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960" y="1371600"/>
            <a:ext cx="8595360" cy="411480"/>
          </a:xfrm>
          <a:prstGeom prst="rect">
            <a:avLst/>
          </a:prstGeom>
          <a:solidFill>
            <a:srgbClr val="FFF3CD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14173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Helvetica Neue"/>
              </a:rPr>
              <a:t>THIS MR — Lowering &amp; Dispatch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2057400"/>
            <a:ext cx="7863840" cy="777240"/>
          </a:xfrm>
          <a:prstGeom prst="roundRect">
            <a:avLst/>
          </a:prstGeom>
          <a:solidFill>
            <a:srgbClr val="FFF3C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2148840"/>
            <a:ext cx="7863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02124"/>
                </a:solidFill>
                <a:latin typeface="Helvetica Neue"/>
              </a:rPr>
              <a:t>Targets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468880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368"/>
                </a:solidFill>
                <a:latin typeface="Menlo"/>
              </a:rPr>
              <a:t>workflow/targets/   ·   MLIR  ·  SDFG  ·  OpenQASM  ·  QIR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06640.0" y="2834640"/>
            <a:ext cx="0.0" cy="164592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474720" y="2999232"/>
            <a:ext cx="7863840" cy="777240"/>
          </a:xfrm>
          <a:prstGeom prst="roundRect">
            <a:avLst/>
          </a:prstGeom>
          <a:solidFill>
            <a:srgbClr val="FFF3C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3090672"/>
            <a:ext cx="7863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02124"/>
                </a:solidFill>
                <a:latin typeface="Helvetica Neue"/>
              </a:rPr>
              <a:t>Adapters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410712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368"/>
                </a:solidFill>
                <a:latin typeface="Menlo"/>
              </a:rPr>
              <a:t>workflow/adapters/   ·   IBM  ·  Qiskit  ·  Cirq          (lazy imports)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06640.0" y="3776472"/>
            <a:ext cx="0.0" cy="164592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474720" y="3941064"/>
            <a:ext cx="7863840" cy="777240"/>
          </a:xfrm>
          <a:prstGeom prst="roundRect">
            <a:avLst/>
          </a:prstGeom>
          <a:solidFill>
            <a:srgbClr val="FFF3C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4032504"/>
            <a:ext cx="7863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02124"/>
                </a:solidFill>
                <a:latin typeface="Helvetica Neue"/>
              </a:rPr>
              <a:t>q_interop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4352544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368"/>
                </a:solidFill>
                <a:latin typeface="Menlo"/>
              </a:rPr>
              <a:t>workflow/simulation/q_interop/   ·   authorised SDK importer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06640.0" y="4718304"/>
            <a:ext cx="0.0" cy="164592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474720" y="4882896"/>
            <a:ext cx="7863840" cy="777240"/>
          </a:xfrm>
          <a:prstGeom prst="roundRect">
            <a:avLst/>
          </a:prstGeom>
          <a:solidFill>
            <a:srgbClr val="FFF3C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0" y="4974336"/>
            <a:ext cx="7863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02124"/>
                </a:solidFill>
                <a:latin typeface="Helvetica Neue"/>
              </a:rPr>
              <a:t>Devices + 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294376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368"/>
                </a:solidFill>
                <a:latin typeface="Menlo"/>
              </a:rPr>
              <a:t>workflow/device_model/   ·   workflow/cost/   ·   vendor-agnostic descriptors + calculators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08076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6368"/>
                </a:solidFill>
                <a:latin typeface="Helvetica Neue"/>
              </a:rPr>
              <a:t>↓   Cost-annotated DAG   +   emitter outputs   +   optional execution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Helvetica Neue"/>
              </a:rPr>
              <a:t>QREW Architecture · Sophie Block ·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PROBLEM · WHY THIS LAYER NEEDED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Helvetica Neue"/>
              </a:rPr>
              <a:t>Different domains, different vendors, one DAG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02124"/>
                </a:solidFill>
                <a:latin typeface="Helvetica Neue"/>
              </a:rPr>
              <a:t>Before this MR, the lowering layer had four concrete failure modes: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  <a:latin typeface="Helvetica Neue"/>
              </a:rPr>
              <a:t>Cost logic was inlined.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7627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Helvetica Neue"/>
              </a:rPr>
              <a:t>~160 lines of FLOP-counting + gate-timing math lived inside CPUDevice.estimate(), GPUDevice.estimate(), QPUDevice.estimate(). Impossible to test or swap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  <a:latin typeface="Helvetica Neue"/>
              </a:rPr>
              <a:t>Emitters returned bare dicts.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6382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Helvetica Neue"/>
              </a:rPr>
              <a:t>device.emit() returned untyped dicts. No schema. No single import path. Lowering logic scattered across device_model/emitters.py and simulation/q_interop/.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9534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  <a:latin typeface="Helvetica Neue"/>
              </a:rPr>
              <a:t>SDK imports leaked everywhere.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51376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Helvetica Neue"/>
              </a:rPr>
              <a:t>six files in workflow/simulation/ imported Qiskit or Cirq at module top. Any environment without those SDKs failed on `import workflow` — even for purely classical workloads.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82896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  <a:latin typeface="Helvetica Neue"/>
              </a:rPr>
              <a:t>Device registry was disconnected.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38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Helvetica Neue"/>
              </a:rPr>
              <a:t>workflow/device_model/device_registry.py could load YAML but was never wired into workflow/registry.py. No single workflow.get_device('a100_gpu') call path.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Helvetica Neue"/>
              </a:rPr>
              <a:t>Same DAG should be able to target an HPC backend or a quantum backend without rewiring the orchestrator. That's what this layer is for.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Helvetica Neue"/>
              </a:rPr>
              <a:t>QREW Architecture · Sophie Block ·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PRIOR ART · SHOULDERS THIS LAYER STANDS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Helvetica Neue"/>
              </a:rPr>
              <a:t>The lowering-chain pattern is not novel — it's borrowed deliberately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Helvetica Neue"/>
              </a:rPr>
              <a:t>The design rule pulled from all of these: keep the IR canonical and small; push every backend-specific concern into the emitter and adapter layers; never let a vendor SDK leak into the 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  <a:latin typeface="Helvetica Neue"/>
              </a:rPr>
              <a:t>DaCe DAPP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67127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Helvetica Neue"/>
              </a:rPr>
              <a:t>ETH SPCL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74519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Helvetica Neue"/>
              </a:rPr>
              <a:t>SDFG (Stateful Dataflow multiGraph) IR — direct inspiration for workflow/targets/sdfg.py. Lowers Python to a dataflow IR, then specialises per backend.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19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  <a:latin typeface="Helvetica Neue"/>
              </a:rPr>
              <a:t>Allo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52927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Helvetica Neue"/>
              </a:rPr>
              <a:t>Chen et al. · PLDI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19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Helvetica Neue"/>
              </a:rPr>
              <a:t>Composable accelerator design via MLIR. Shapes intent for workflow/targets/mlir.py.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19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  <a:latin typeface="Helvetica Neue"/>
              </a:rPr>
              <a:t>HIDA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38727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Helvetica Neue"/>
              </a:rPr>
              <a:t>Ye et al. · ASPLOS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46119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Helvetica Neue"/>
              </a:rPr>
              <a:t>Hierarchical dataflow compiler for HLS — backs the case for hierarchical IR over flat op lists.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19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  <a:latin typeface="Helvetica Neue"/>
              </a:rPr>
              <a:t>Tierkreis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24527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Helvetica Neue"/>
              </a:rPr>
              <a:t>Sivarajah et al. · QCS 2022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931919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Helvetica Neue"/>
              </a:rPr>
              <a:t>Dataflow framework specifically for hybrid quantum-classical workflows. Treats classical and quantum ops as DAG peers.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17719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  <a:latin typeface="Helvetica Neue"/>
              </a:rPr>
              <a:t>Q-AIM · Weaver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10327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Helvetica Neue"/>
              </a:rPr>
              <a:t>Zhu et al. 2025  ·  Kırmemiş et al.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617719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Helvetica Neue"/>
              </a:rPr>
              <a:t>Recent retargetable quantum-compiler work. Informs trajectory for workflow/targets/qasm_qir.py.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19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  <a:latin typeface="Helvetica Neue"/>
              </a:rPr>
              <a:t>Quetschlich · Lammers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96127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Helvetica Neue"/>
              </a:rPr>
              <a:t>2024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303519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Helvetica Neue"/>
              </a:rPr>
              <a:t>Resource estimation methodology and NISQ-era runtime resource management — prior art for workflow/cost/quantum.py.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Helvetica Neue"/>
              </a:rPr>
              <a:t>QREW Architecture · Sophie Block · 4 of 12    See bibliography on the final slide for full references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SCOPE · FIVE TRACKS LANDED IN THIS MR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Helvetica Neue"/>
              </a:rPr>
              <a:t>Organised by what was attacked, not by issue number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FFF3C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02124"/>
                </a:solidFill>
                <a:latin typeface="Helvetica Ne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4475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Helvetica Neue"/>
              </a:rPr>
              <a:t>Cost Calculators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556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73E8"/>
                </a:solidFill>
                <a:latin typeface="Menlo"/>
              </a:rPr>
              <a:t>workflow/cost/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46304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Helvetica Neue"/>
              </a:rPr>
              <a:t>Roofline CPU/GPU + gate-timing/shot QPU; dependency-injected into frozen device dataclasses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12848"/>
            <a:ext cx="548640" cy="548640"/>
          </a:xfrm>
          <a:prstGeom prst="ellipse">
            <a:avLst/>
          </a:prstGeom>
          <a:solidFill>
            <a:srgbClr val="FFF3C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02124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Helvetica Neue"/>
              </a:rPr>
              <a:t>Typed Targets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05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73E8"/>
                </a:solidFill>
                <a:latin typeface="Menlo"/>
              </a:rPr>
              <a:t>workflow/targets/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12848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Helvetica Neue"/>
              </a:rPr>
              <a:t>Frozen dataclass results from MLIR / SDFG / OpenQASM / QIR emitters; emit_graph stubs scaffolded for July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962656"/>
            <a:ext cx="548640" cy="548640"/>
          </a:xfrm>
          <a:prstGeom prst="ellipse">
            <a:avLst/>
          </a:prstGeom>
          <a:solidFill>
            <a:srgbClr val="FFF3C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6265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02124"/>
                </a:solidFill>
                <a:latin typeface="Helvetica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4436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Helvetica Neue"/>
              </a:rPr>
              <a:t>Device Registry Wiring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552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73E8"/>
                </a:solidFill>
                <a:latin typeface="Menlo"/>
              </a:rPr>
              <a:t>workflow/device_model/ + workflow/registry.py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962656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Helvetica Neue"/>
              </a:rPr>
              <a:t>YAML-backed registry, lazy load on first call, 9 named devices (5 generic + 4 concrete)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712464"/>
            <a:ext cx="548640" cy="548640"/>
          </a:xfrm>
          <a:prstGeom prst="ellipse">
            <a:avLst/>
          </a:prstGeom>
          <a:solidFill>
            <a:srgbClr val="FFF3C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1246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02124"/>
                </a:solidFill>
                <a:latin typeface="Helvetica Neu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69417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Helvetica Neue"/>
              </a:rPr>
              <a:t>SDK Adapters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05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73E8"/>
                </a:solidFill>
                <a:latin typeface="Menlo"/>
              </a:rPr>
              <a:t>workflow/adapters/ + workflow/simulation/q_interop/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712464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Helvetica Neue"/>
              </a:rPr>
              <a:t>6 SDK violations migrated; q_interop marked authorised importer; lazy/optional SDK imports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462272"/>
            <a:ext cx="548640" cy="548640"/>
          </a:xfrm>
          <a:prstGeom prst="ellipse">
            <a:avLst/>
          </a:prstGeom>
          <a:solidFill>
            <a:srgbClr val="FFF3C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6227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02124"/>
                </a:solidFill>
                <a:latin typeface="Helvetica Neue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44398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Helvetica Neue"/>
              </a:rPr>
              <a:t>Cross-Device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754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73E8"/>
                </a:solidFill>
                <a:latin typeface="Menlo"/>
              </a:rPr>
              <a:t>test/device_model/test_cross_device.py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462272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Helvetica Neue"/>
              </a:rPr>
              <a:t>22 tests, 4 classes — Routing · Cost · Placement · Registry Round-trip. Zero SDK deps.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5212080"/>
            <a:ext cx="548640" cy="548640"/>
          </a:xfrm>
          <a:prstGeom prst="ellipse">
            <a:avLst/>
          </a:prstGeom>
          <a:solidFill>
            <a:srgbClr val="FFF3C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212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02124"/>
                </a:solidFill>
                <a:latin typeface="Helvetica Neue"/>
              </a:rPr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19379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Helvetica Neue"/>
              </a:rPr>
              <a:t>Chemistry Ingestion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5046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73E8"/>
                </a:solidFill>
                <a:latin typeface="Menlo"/>
              </a:rPr>
              <a:t>doc/design/chemistry-ingestion-review.md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21208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Helvetica Neue"/>
              </a:rPr>
              <a:t>523 lines; P0/P1/P2 review vs Tangelo 0.4.3 + Tequila — applied July, not in this MR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Helvetica Neue"/>
              </a:rPr>
              <a:t>QREW Architecture · Sophie Block ·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SCOPE 1 OF 5  ·  COST CALCULATORS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Helvetica Neue"/>
              </a:rPr>
              <a:t>workflow/cost/  —  Roofline + gate-timing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Helvetica Neue"/>
              </a:rPr>
              <a:t>Extracted ~160 lines of inlined FLOP-counting and gate-timing math out of the device dataclasses and behind a CostCalculator Protocol. Each device gets a calculator injected at construction; estimate() becomes a one-liner.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workflow/cost/base.py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CostCalculator Protocol + CompositeCostCalculator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986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workflow/cost/classical.py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RooflineCPUCalculator + RooflineGPUCalculator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6557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workflow/cost/quantum.py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4176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GateTimingCalculator + ShotBillingCalculator + QPUCostCalculator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3250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workflow/cost/__init__.py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6110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default_calculator_for(device) 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9943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test/cost/test_classical_cost.py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2803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Roofline tests + GPU tensor-core branch + 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663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test/cost/test_quantum_cost.py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Gate timing + shot billing + fidelity accumulation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KEY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3172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Roofline (CPU/GPU)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latency = max(flops / peak_flops, bytes / bandwidth). GPU variant adds tensor-core branch for matmul-family.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Gate-time / shot (QPU)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latency = Σ count × gate_time_ns ;  fidelity = Π (1 - error_rate) ;  dollars = shots × cost_per_shot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Injection into frozen dataclasses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object.__setattr__ inside __post_init__ — same pattern QPUDevice.profile already uses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Composite calculator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wraps multiple calculators, returns the union of their dimensions. Lets us layer e.g. roofline +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035040"/>
            <a:ext cx="11247120" cy="457200"/>
          </a:xfrm>
          <a:prstGeom prst="roundRect">
            <a:avLst/>
          </a:prstGeom>
          <a:solidFill>
            <a:srgbClr val="F1F3F4"/>
          </a:solidFill>
          <a:ln w="9525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8038"/>
                </a:solidFill>
                <a:latin typeface="Helvetica Neue"/>
              </a:rPr>
              <a:t>STATUS  ·  Landed — test/cost/ green, all device .estimate() callsites converted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Helvetica Neue"/>
              </a:rPr>
              <a:t>QREW Architecture · Sophie Block ·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SCOPE 2 OF 5  ·  TYPED TARGETS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Helvetica Neue"/>
              </a:rPr>
              <a:t>workflow/targets/  —  emitters return frozen dataclasses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Helvetica Neue"/>
              </a:rPr>
              <a:t>Created workflow/targets/ as a stable hand-off point for the orchestrator. All emitters return typed frozen dataclasses (MLIRModule, SDFGTasklet, OpenQASM string, list[QIRInstruction]). The old workflow/device_model/emitters.py is now a deprecation façade.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workflow/targets/mlir.py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MLIREmitter → MLIRModule(dialect, op_name, operands, result_types)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986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workflow/targets/sdfg.py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SDFGEmitter → SDFGTasklet(code, schedule)  ·  inspired by DaCe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6557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workflow/targets/qasm_qir.py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4176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OpenQASMEmitter + QIREmitter (shared file — both quantum IR formats)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3250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workflow/targets/registry.py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6110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get_emitter(target) — single lookup path for the 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9943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workflow/device_model/emitters.py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2803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deprecation façade — DeprecationWarning on import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KEY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Typed results, not bare dicts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@dataclass(frozen=True) makes the emitter contract reviewable and unit-testable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Stubs are acceptable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emit_graph for MLIR/OpenQASM/QIR raises NotImplementedError with a clear message — goal here was routing, not lowering completeness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Device.emit() becomes delegation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return get_emitter(target).emit_node(node, self) — no per-device branching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OpenQASM + QIR share a file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both quantum IR formats; share fixture setup in tests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035040"/>
            <a:ext cx="11247120" cy="457200"/>
          </a:xfrm>
          <a:prstGeom prst="roundRect">
            <a:avLst/>
          </a:prstGeom>
          <a:solidFill>
            <a:srgbClr val="F1F3F4"/>
          </a:solidFill>
          <a:ln w="9525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8038"/>
                </a:solidFill>
                <a:latin typeface="Helvetica Neue"/>
              </a:rPr>
              <a:t>STATUS  ·  Landed — emit_node works for all four backends; emit_graph stubbed for 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Helvetica Neue"/>
              </a:rPr>
              <a:t>QREW Architecture · Sophie Block ·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SCOPE 3 OF 5  ·  DEVICE REGISTRY 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Helvetica Neue"/>
              </a:rPr>
              <a:t>workflow/device_model/ + workflow/registry.py  —  vendor-agnostic device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Helvetica Neue"/>
              </a:rPr>
              <a:t>Wired workflow/device_model/device_registry.py (YAML loader) into workflow/registry.py (the main kernel/signature registry). Registry gains a device_pool with lazy load on first access. YAML now ships nine named devices (five generic defaults + four concrete profiles).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workflow/registry.py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Registry.device_pool, lazy-load gate, get_device / list_devices / register_device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986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workflow/device_model/device_registry.py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load_devices() — YAML deserialisation into Device subclasses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6557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workflow/device_model/registry/devices.yaml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4176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9 devices: 5 generic (default_*) + 4 named (x86_64_cpu, a100_gpu, superconducting_5q, trapped_ion_11q)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3250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workflow/__init__.py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6110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re-exports get_device / list_devices / register_device at module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KEY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3172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Lazy load on first call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Registry() construction does NOT load YAML. _ensure_devices_loaded fires on first get_device(). Keeps import workflow fast.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Circular-import guard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All imports of device_model.device_registry inside registry.py are inside function bodies or TYPE_CHECKING blocks. Dependency arrow is registry → device_model only.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Additive YAML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Generic and named devices coexist so old tests (expecting x86_64_cpu) keep passing alongside new device-selection patterns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9 devices loaded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default_cpu · default_gpu · default_qpu · trapped_ion_qpu · neutral_atom_qpu · x86_64_cpu · a100_gpu · superconducting_5q · trapped_ion_11q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35040"/>
            <a:ext cx="11247120" cy="457200"/>
          </a:xfrm>
          <a:prstGeom prst="roundRect">
            <a:avLst/>
          </a:prstGeom>
          <a:solidFill>
            <a:srgbClr val="F1F3F4"/>
          </a:solidFill>
          <a:ln w="9525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8038"/>
                </a:solidFill>
                <a:latin typeface="Helvetica Neue"/>
              </a:rPr>
              <a:t>STATUS  ·  Landed — all device_registry tests + integration tests green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Helvetica Neue"/>
              </a:rPr>
              <a:t>QREW Architecture · Sophie Block ·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SCOPE 4 OF 5  ·  SDK ADAPTERS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Helvetica Neue"/>
              </a:rPr>
              <a:t>workflow/adapters/  —  the hard boundary between QREW and vendor SDKs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Helvetica Neue"/>
              </a:rPr>
              <a:t>This is the biggest piece of the MR. Six files in workflow/simulation/ imported Qiskit or Cirq at module top — any environment without those SDKs failed on `import workflow`. Migrated all six. The orchestrator now only calls require_adapter('qiskit') / require_adapter('cirq') / require_adapter('ibm').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377440"/>
            <a:ext cx="3017520" cy="640080"/>
          </a:xfrm>
          <a:prstGeom prst="roundRect">
            <a:avLst/>
          </a:prstGeom>
          <a:solidFill>
            <a:srgbClr val="E8EAED"/>
          </a:solidFill>
          <a:ln w="9525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468880"/>
            <a:ext cx="3017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02124"/>
                </a:solidFill>
                <a:latin typeface="Helvetica Neue"/>
              </a:rPr>
              <a:t>Orchestrator (workflow.*)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889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368"/>
                </a:solidFill>
                <a:latin typeface="Menlo"/>
              </a:rPr>
              <a:t>never imports an SDK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3017520"/>
            <a:ext cx="0" cy="27432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3337560"/>
            <a:ext cx="10332720" cy="12801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  <a:latin typeface="Helvetica Neue"/>
              </a:rPr>
              <a:t>workflow/adapters/   ·   hard boundary  ·  lazy SDK imports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749040"/>
            <a:ext cx="3200400" cy="777240"/>
          </a:xfrm>
          <a:prstGeom prst="roundRect">
            <a:avLst/>
          </a:prstGeom>
          <a:solidFill>
            <a:srgbClr val="FFF3C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80"/>
            <a:ext cx="3200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02124"/>
                </a:solidFill>
                <a:latin typeface="Helvetica Neue"/>
              </a:rPr>
              <a:t>IBMAdapter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16052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F6368"/>
                </a:solidFill>
                <a:latin typeface="Menlo"/>
              </a:rPr>
              <a:t>ibm.py   ·   qiskit_ibm_runtime  ·  lazy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749040"/>
            <a:ext cx="3200400" cy="777240"/>
          </a:xfrm>
          <a:prstGeom prst="roundRect">
            <a:avLst/>
          </a:prstGeom>
          <a:solidFill>
            <a:srgbClr val="FFF3C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840480"/>
            <a:ext cx="3200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02124"/>
                </a:solidFill>
                <a:latin typeface="Helvetica Neue"/>
              </a:rPr>
              <a:t>QiskitAdapter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6052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F6368"/>
                </a:solidFill>
                <a:latin typeface="Menlo"/>
              </a:rPr>
              <a:t>qiskit.py   ·   qiskit  ·  delegates to q_interop.qiskit_interop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3749040"/>
            <a:ext cx="3200400" cy="777240"/>
          </a:xfrm>
          <a:prstGeom prst="roundRect">
            <a:avLst/>
          </a:prstGeom>
          <a:solidFill>
            <a:srgbClr val="FFF3C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3840480"/>
            <a:ext cx="3200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02124"/>
                </a:solidFill>
                <a:latin typeface="Helvetica Neue"/>
              </a:rPr>
              <a:t>CirqAdapter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416052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F6368"/>
                </a:solidFill>
                <a:latin typeface="Menlo"/>
              </a:rPr>
              <a:t>cirq.py   ·   cirq  ·  delegates to q_interop.cirq_interop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4617720"/>
            <a:ext cx="0" cy="27432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4937760"/>
            <a:ext cx="10332720" cy="548640"/>
          </a:xfrm>
          <a:prstGeom prst="roundRect">
            <a:avLst/>
          </a:prstGeom>
          <a:solidFill>
            <a:srgbClr val="E8EAED"/>
          </a:solidFill>
          <a:ln w="9525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10332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02124"/>
                </a:solidFill>
                <a:latin typeface="Helvetica Neue"/>
              </a:rPr>
              <a:t>External SDKs (optional, never imported at module top)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3327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F6368"/>
                </a:solidFill>
                <a:latin typeface="Menlo"/>
              </a:rPr>
              <a:t>qiskit  ·  cirq  ·  qiskit_ibm_runtime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SIX VIOLATIONS — ALL MIGRATED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Menlo"/>
              </a:rPr>
              <a:t>workflow/simulation/quantum.py  ·  variational_solvers.py  ·  ibm_device_loader.py  ·  quantum_resources.py  ·  fermion_to_qubit_utils.py  ·  ansatzes/uccsd.py     +    devices/ibm_make_csv.py (bonus, was broken)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Helvetica Neue"/>
              </a:rPr>
              <a:t>QREW Architecture · Sophie Block · 9 of 12    hardcoded IBM token removed from ibm_device_loader.py (now reads IBM_QUANTUM_TOKEN env var)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SCOPE 5 OF 5  ·  CROSS-DEVICE INTEGRATION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Helvetica Neue"/>
              </a:rPr>
              <a:t>test/device_model/test_cross_device.py  —  end-to-end seam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Helvetica Neue"/>
              </a:rPr>
              <a:t>Single new test file, 291 lines, 22 tests across 4 classes, zero Qiskit/Cirq dependencies. Validates the full lowering seam: load a device from the registry, route an op through can_execute, call estimate, check Cost field types across all device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test/device_model/test_cross_device.py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>TestOpRouting · TestCostComparison · TestGraphPlacement · TestRegistryRoundTrip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986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Helvetica Neue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KEY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3172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TestOpRouting (5)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gemm → CPU+GPU yes, QPU no  ·  flash_attention → GPU only  ·  SX → QPU only  ·  unknown_op → nowhere  ·  Device protocol satisfied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TestCostComparison (4)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GPU &lt; CPU latency on 1024³ gemm  ·  latency_s/dollars/energy_J ≥ 0  ·  all Cost fields are float  ·  QPU fidelity ∈ (0, 1]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TestGraphPlacement (5)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3-node DAG  preprocess(gemm) → vqe_layer(SX) → postprocess(gemm)  with greedy placement helper; deterministic; unsatisfiable → None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202124"/>
                </a:solidFill>
                <a:latin typeface="Helvetica Neue"/>
              </a:rPr>
              <a:t>• TestRegistryRoundTrip (8)</a:t>
            </a:r>
            <a:r>
              <a:rPr sz="1100" b="0">
                <a:solidFill>
                  <a:srgbClr val="202124"/>
                </a:solidFill>
                <a:latin typeface="Helvetica Neue"/>
              </a:rPr>
              <a:t> — All 5 generic + 4 named devices present  ·  register/get identity round-trip  ·  QPU.arch is an Architecture enum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035040"/>
            <a:ext cx="11247120" cy="457200"/>
          </a:xfrm>
          <a:prstGeom prst="roundRect">
            <a:avLst/>
          </a:prstGeom>
          <a:solidFill>
            <a:srgbClr val="F1F3F4"/>
          </a:solidFill>
          <a:ln w="9525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8038"/>
                </a:solidFill>
                <a:latin typeface="Helvetica Neue"/>
              </a:rPr>
              <a:t>STATUS  ·  Landed — 22/22 passing, no SDK deps, PyYAML-skipped gracefully if absent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Helvetica Neue"/>
              </a:rPr>
              <a:t>QREW Architecture · Sophie Block ·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VALIDATION · HOW WE KNOW THIS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Helvetica Neue"/>
              </a:rPr>
              <a:t>Full suite green, not just the scoped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011680"/>
          </a:xfrm>
          <a:prstGeom prst="roundRect">
            <a:avLst/>
          </a:prstGeom>
          <a:solidFill>
            <a:srgbClr val="F1F3F4"/>
          </a:solidFill>
          <a:ln w="9525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Helvetica Neue"/>
              </a:rPr>
              <a:t>FULL PYTEST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188038"/>
                </a:solidFill>
                <a:latin typeface="Helvetica Neue"/>
              </a:rPr>
              <a:t>1177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202124"/>
                </a:solidFill>
                <a:latin typeface="Helvetica Neue"/>
              </a:rPr>
              <a:t>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F6368"/>
                </a:solidFill>
                <a:latin typeface="Helvetica Neue"/>
              </a:rPr>
              <a:t>26 skipped · 1 xfailed · 0 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Helvetica Neue"/>
              </a:rPr>
              <a:t>Notable subsets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Helvetica Neue"/>
              </a:rPr>
              <a:t>Adapter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Menlo"/>
              </a:rPr>
              <a:t>test/adapters/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828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8038"/>
                </a:solidFill>
                <a:latin typeface="Helvetica Neue"/>
              </a:rPr>
              <a:t>18 passing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Helvetica Neue"/>
              </a:rPr>
              <a:t>Cross-device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2402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Menlo"/>
              </a:rPr>
              <a:t>test/device_model/test_cross_device.py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2402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8038"/>
                </a:solidFill>
                <a:latin typeface="Helvetica Neue"/>
              </a:rPr>
              <a:t>22 passing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517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Helvetica Neue"/>
              </a:rPr>
              <a:t>Cost calculator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517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Menlo"/>
              </a:rPr>
              <a:t>test/cost/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6517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8038"/>
                </a:solidFill>
                <a:latin typeface="Helvetica Neue"/>
              </a:rPr>
              <a:t>all passing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632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Helvetica Neue"/>
              </a:rPr>
              <a:t>Chemistry 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0632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Menlo"/>
              </a:rPr>
              <a:t>test/chemistry_ingestion/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0632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8038"/>
                </a:solidFill>
                <a:latin typeface="Helvetica Neue"/>
              </a:rPr>
              <a:t>all passing (after Circuit-import 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4747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Helvetica Neue"/>
              </a:rPr>
              <a:t>Type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4747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Menlo"/>
              </a:rPr>
              <a:t>test/types/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4747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8038"/>
                </a:solidFill>
                <a:latin typeface="Helvetica Neue"/>
              </a:rPr>
              <a:t>all passing (after 4 pre-existing dtype repairs)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FFF3C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37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Helvetica Neue"/>
              </a:rPr>
              <a:t>WHAT WE LEARNED RUNNING THIS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Helvetica Neue"/>
              </a:rPr>
              <a:t>An earlier checkpoint claimed "40/40 green" but had only run test/adapters/ and test/device_model/test_cross_device.py — scoped subsets, not the full suite. When the full suite was run, 14 failures appeared: 2 from a missed SDK-adapter migration spot (uccsd.py Circuit NameError), 8 from a YAML rename in devices.yaml that the test suite hadn't been updated for, and 4 pre-existing dtype bugs. All resolved. Going forward: the only acceptable green claim is `pytest` at repo root with nothing filtered.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Helvetica Neue"/>
              </a:rPr>
              <a:t>QREW Architecture · Sophie Block ·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Helvetica Neue"/>
              </a:rPr>
              <a:t>NEXT  · 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Helvetica Neue"/>
              </a:rPr>
              <a:t>What's deferred to July  +  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Helvetica Neue"/>
              </a:rPr>
              <a:t>NOT IN THIS MR  ·  July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Helvetica Neue"/>
              </a:rPr>
              <a:t>▸  emit_graph completeness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39112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Helvetica Neue"/>
              </a:rPr>
              <a:t>Emitters scaffold emit_graph but raise NotImplementedError. Fill in per backend.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963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Helvetica Neue"/>
              </a:rPr>
              <a:t>▸  Remove emitters.py deprecation façade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52344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Helvetica Neue"/>
              </a:rPr>
              <a:t>workflow/device_model/emitters.py — drop once nothing imports from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954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Helvetica Neue"/>
              </a:rPr>
              <a:t>▸  Physically move q_interop/ into adapters/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65576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Helvetica Neue"/>
              </a:rPr>
              <a:t>Currently logically inside (AUTHORISED SDK IMPORTER banner). Physical relocation is roadmap.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227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Helvetica Neue"/>
              </a:rPr>
              <a:t>▸  CirqAdapter.from_sdk_circuit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78808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Helvetica Neue"/>
              </a:rPr>
              <a:t>No cirq→workflow converter exists in q_interop yet — adapter raises NotImplementedError.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360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Helvetica Neue"/>
              </a:rPr>
              <a:t>▸  Apply chemistry-ingestion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Helvetica Neue"/>
              </a:rPr>
              <a:t>P0 bugs in variational_solvers.py + uccsd.py + fermion_to_qubit_utils.py — see doc/design/chemistry-ingestion-review.md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Helvetica Neue"/>
              </a:rPr>
              <a:t>▸  AST→DAG capture 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5272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Helvetica Neue"/>
              </a:rPr>
              <a:t>Frontend exists in workflow/frontend/ + builder.py — extend coverage upstream of this layer.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Helvetica Neue"/>
              </a:rPr>
              <a:t>BIBLIOGRAPHY  ·  prior art referenced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783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Helvetica Neue"/>
              </a:rPr>
              <a:t>DaCe DAPP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783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Menlo"/>
              </a:rPr>
              <a:t>spcl.inf.ethz.ch/Research/DAPP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0391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Helvetica Neue"/>
              </a:rPr>
              <a:t>Allo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0391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Menlo"/>
              </a:rPr>
              <a:t>Chen et al. · PLDI 2024 · doi:10.1145/3656401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951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Helvetica Neue"/>
              </a:rPr>
              <a:t>HIDA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29514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Menlo"/>
              </a:rPr>
              <a:t>Ye et al. · ASPLOS 2024 · doi:10.1145/3617232.3624850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5511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Helvetica Neue"/>
              </a:rPr>
              <a:t>Tierkreis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5511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Menlo"/>
              </a:rPr>
              <a:t>Sivarajah et al. · QCS 2022 · doi:10.1109/QCS56647.2022.00007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Helvetica Neue"/>
              </a:rPr>
              <a:t>Q-AIM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8072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Menlo"/>
              </a:rPr>
              <a:t>Zhu et al. · 2025 · arXiv:2506.13436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063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Helvetica Neue"/>
              </a:rPr>
              <a:t>Weaver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063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Menlo"/>
              </a:rPr>
              <a:t>Kırmemiş et al. · 2025 · arXiv:2409.07870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3192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Helvetica Neue"/>
              </a:rPr>
              <a:t>Pouget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3192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Menlo"/>
              </a:rPr>
              <a:t>Pouget et al. · FPGA 2025 · doi:10.1145/3706628.3708873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5753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Helvetica Neue"/>
              </a:rPr>
              <a:t>QPanda3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5753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Menlo"/>
              </a:rPr>
              <a:t>Zou et al. · 2025 · arXiv:2504.02455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313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Helvetica Neue"/>
              </a:rPr>
              <a:t>Quetschlich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83133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Menlo"/>
              </a:rPr>
              <a:t>Quetschlich et al. · 2024 · arXiv:2402.12434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0873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Helvetica Neue"/>
              </a:rPr>
              <a:t>Lammers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0873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Menlo"/>
              </a:rPr>
              <a:t>Lammers et al. · 2025 · arXiv:2508.19276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3434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Helvetica Neue"/>
              </a:rPr>
              <a:t>Hayashi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3434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Menlo"/>
              </a:rPr>
              <a:t>Hayashi et al. · IPDPSW 2023 · doi:10.1109/IPDPSW59300.2023.00090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59943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Helvetica Neue"/>
              </a:rPr>
              <a:t>Chen (multi-GPU)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5994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Menlo"/>
              </a:rPr>
              <a:t>Chen et al. · 2024 · arXiv:2403.05828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8554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Helvetica Neue"/>
              </a:rPr>
              <a:t>NetQMPI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48554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Menlo"/>
              </a:rPr>
              <a:t>Cardama &amp; Pena · 2025 · arXiv:2512.11483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51114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Helvetica Neue"/>
              </a:rPr>
              <a:t>Remme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5111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Menlo"/>
              </a:rPr>
              <a:t>Remme et al. · 2025 · arXiv:2505.12853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6126480"/>
            <a:ext cx="11247120" cy="457200"/>
          </a:xfrm>
          <a:prstGeom prst="roundRect">
            <a:avLst/>
          </a:prstGeom>
          <a:solidFill>
            <a:srgbClr val="F1F3F4"/>
          </a:solidFill>
          <a:ln w="9525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Menlo"/>
              </a:rPr>
              <a:t>Full design doc: doc/design/architecture-refactor.md  ·  Chemistry review: doc/design/chemistry-ingestion-review.md  ·  MR: gitlab.com/rat.hero/workflow/-/merge_requests/1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Helvetica Neue"/>
              </a:rPr>
              <a:t>QREW Architecture · Sophie Block ·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